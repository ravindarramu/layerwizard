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1463040"/>
            <a:ext cx="4754880" cy="4754880"/>
          </a:xfrm>
          <a:prstGeom prst="ellipse">
            <a:avLst/>
          </a:prstGeom>
          <a:solidFill>
            <a:srgbClr val="25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914400"/>
            <a:ext cx="3291840" cy="3291840"/>
          </a:xfrm>
          <a:prstGeom prst="ellipse">
            <a:avLst/>
          </a:prstGeom>
          <a:solidFill>
            <a:srgbClr val="2D3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67528" y="1874519"/>
            <a:ext cx="1463040" cy="146304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67528" y="1874519"/>
            <a:ext cx="1463040" cy="146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241A05"/>
                </a:solidFill>
                <a:latin typeface="Calibri"/>
              </a:rPr>
              <a:t>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2F2F0"/>
                </a:solidFill>
                <a:latin typeface="Calibri"/>
              </a:rPr>
              <a:t>Vendor Sizing Template Panel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0" i="0">
                <a:solidFill>
                  <a:srgbClr val="D9A441"/>
                </a:solidFill>
                <a:latin typeface="Calibri"/>
              </a:rPr>
              <a:t>Automating product photo sizing &amp; finishing in Photoshop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9AA3AC"/>
                </a:solidFill>
                <a:latin typeface="Calibri"/>
              </a:rPr>
              <a:t>Developed by Ravindar Ramu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2F2F0"/>
                </a:solidFill>
                <a:latin typeface="Calibri"/>
              </a:rPr>
              <a:t>One Click, Every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3093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1600" b="1">
                <a:solidFill>
                  <a:srgbClr val="D9A441"/>
                </a:solidFill>
                <a:latin typeface="Calibri"/>
              </a:rPr>
              <a:t>•  </a:t>
            </a:r>
            <a:r>
              <a:rPr sz="1600">
                <a:solidFill>
                  <a:srgbClr val="F2F2F0"/>
                </a:solidFill>
                <a:latin typeface="Calibri"/>
              </a:rPr>
              <a:t>Runs directly inside Photoshop (File → Scripts) — no separate app, no install</a:t>
            </a:r>
          </a:p>
          <a:p>
            <a:pPr algn="l">
              <a:spcAft>
                <a:spcPts val="1800"/>
              </a:spcAft>
            </a:pPr>
            <a:r>
              <a:rPr sz="1600" b="1">
                <a:solidFill>
                  <a:srgbClr val="D9A441"/>
                </a:solidFill>
                <a:latin typeface="Calibri"/>
              </a:rPr>
              <a:t>•  </a:t>
            </a:r>
            <a:r>
              <a:rPr sz="1600">
                <a:solidFill>
                  <a:srgbClr val="F2F2F0"/>
                </a:solidFill>
                <a:latin typeface="Calibri"/>
              </a:rPr>
              <a:t>Takes a product photo and resizes/finishes it to an exact vendor specification automatically</a:t>
            </a:r>
          </a:p>
          <a:p>
            <a:pPr algn="l">
              <a:spcAft>
                <a:spcPts val="1800"/>
              </a:spcAft>
            </a:pPr>
            <a:r>
              <a:rPr sz="1600" b="1">
                <a:solidFill>
                  <a:srgbClr val="D9A441"/>
                </a:solidFill>
                <a:latin typeface="Calibri"/>
              </a:rPr>
              <a:t>•  </a:t>
            </a:r>
            <a:r>
              <a:rPr sz="1600">
                <a:solidFill>
                  <a:srgbClr val="F2F2F0"/>
                </a:solidFill>
                <a:latin typeface="Calibri"/>
              </a:rPr>
              <a:t>One click replaces a whole manual workflow — pick an item, hit Submit, done</a:t>
            </a:r>
          </a:p>
          <a:p>
            <a:pPr algn="l">
              <a:spcAft>
                <a:spcPts val="1800"/>
              </a:spcAft>
            </a:pPr>
            <a:r>
              <a:rPr sz="1600" b="1">
                <a:solidFill>
                  <a:srgbClr val="D9A441"/>
                </a:solidFill>
                <a:latin typeface="Calibri"/>
              </a:rPr>
              <a:t>•  </a:t>
            </a:r>
            <a:r>
              <a:rPr sz="1600">
                <a:solidFill>
                  <a:srgbClr val="F2F2F0"/>
                </a:solidFill>
                <a:latin typeface="Calibri"/>
              </a:rPr>
              <a:t>Built so every one of our 100+ team members follows the exact same standardized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874519"/>
            <a:ext cx="4297680" cy="3291840"/>
          </a:xfrm>
          <a:prstGeom prst="roundRect">
            <a:avLst>
              <a:gd name="adj" fmla="val 6000"/>
            </a:avLst>
          </a:prstGeom>
          <a:solidFill>
            <a:srgbClr val="25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0920" y="2331720"/>
            <a:ext cx="4297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D9A441"/>
                </a:solidFill>
                <a:latin typeface="Calibri"/>
              </a:rPr>
              <a:t>100+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3429000"/>
            <a:ext cx="3840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F2F2F0"/>
                </a:solidFill>
                <a:latin typeface="Calibri"/>
              </a:rPr>
              <a:t>team members using one shared, standardized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AA3AC"/>
                </a:solidFill>
                <a:latin typeface="Calibri"/>
              </a:rPr>
              <a:t>Developed by Ravindar Ramu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A QUICK 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2F2F0"/>
                </a:solidFill>
                <a:latin typeface="Calibri"/>
              </a:rPr>
              <a:t>The Panel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12540" y="1362456"/>
            <a:ext cx="5336440" cy="4818888"/>
          </a:xfrm>
          <a:prstGeom prst="roundRect">
            <a:avLst>
              <a:gd name="adj" fmla="val 4000"/>
            </a:avLst>
          </a:prstGeom>
          <a:solidFill>
            <a:srgbClr val="2D3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nel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404" y="1417320"/>
            <a:ext cx="5226712" cy="4709160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9AA3AC"/>
                </a:solidFill>
                <a:latin typeface="Calibri"/>
              </a:rPr>
              <a:t>Pick a category and item, preview the exact photo and target size, click Submit.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ORGANIZED BY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2F2F0"/>
                </a:solidFill>
                <a:latin typeface="Calibri"/>
              </a:rPr>
              <a:t>Six Production Sheets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" y="1499616"/>
            <a:ext cx="11173968" cy="811611"/>
          </a:xfrm>
          <a:prstGeom prst="roundRect">
            <a:avLst>
              <a:gd name="adj" fmla="val 4000"/>
            </a:avLst>
          </a:prstGeom>
          <a:solidFill>
            <a:srgbClr val="2D3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a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1064240" cy="701883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548640" y="2514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AA3AC"/>
                </a:solidFill>
                <a:latin typeface="Calibri"/>
              </a:rPr>
              <a:t>Each tab is a fully independent spec sheet — its own categories, its own sizing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0896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25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A441"/>
                </a:solidFill>
                <a:latin typeface="Calibri"/>
              </a:rPr>
              <a:t>Vendor Chrome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2F2F0"/>
                </a:solidFill>
                <a:latin typeface="Calibri"/>
              </a:rPr>
              <a:t>The main sizing sheet — the original vendor spec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310896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25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32735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A441"/>
                </a:solidFill>
                <a:latin typeface="Calibri"/>
              </a:rPr>
              <a:t>Cheshire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3675888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2F2F0"/>
                </a:solidFill>
                <a:latin typeface="Calibri"/>
              </a:rPr>
              <a:t>A separate production category with its own sizes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310896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25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32735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A441"/>
                </a:solidFill>
                <a:latin typeface="Calibri"/>
              </a:rPr>
              <a:t>Onfigure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3675888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2F2F0"/>
                </a:solidFill>
                <a:latin typeface="Calibri"/>
              </a:rPr>
              <a:t>A separate production category with its own sizes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0916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25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737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A441"/>
                </a:solidFill>
                <a:latin typeface="Calibri"/>
              </a:rPr>
              <a:t>Marketplace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76088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2F2F0"/>
                </a:solidFill>
                <a:latin typeface="Calibri"/>
              </a:rPr>
              <a:t>Marketplace-specific sizing rules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470916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25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48737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A441"/>
                </a:solidFill>
                <a:latin typeface="Calibri"/>
              </a:rPr>
              <a:t>Photography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5276088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2F2F0"/>
                </a:solidFill>
                <a:latin typeface="Calibri"/>
              </a:rPr>
              <a:t>Photography-specific sizing rules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0144" y="470916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25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8744" y="48737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9A441"/>
                </a:solidFill>
                <a:latin typeface="Calibri"/>
              </a:rPr>
              <a:t>Still_Off Figure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8744" y="5276088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2F2F0"/>
                </a:solidFill>
                <a:latin typeface="Calibri"/>
              </a:rPr>
              <a:t>Still / off-figure specific sizing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AA3AC"/>
                </a:solidFill>
                <a:latin typeface="Calibri"/>
              </a:rPr>
              <a:t>Developed by Ravindar Ramu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NO GUESSWORK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2F2F0"/>
                </a:solidFill>
                <a:latin typeface="Calibri"/>
              </a:rPr>
              <a:t>Live Preview &amp; 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7804" y="1408176"/>
            <a:ext cx="3787911" cy="4956048"/>
          </a:xfrm>
          <a:prstGeom prst="roundRect">
            <a:avLst>
              <a:gd name="adj" fmla="val 4000"/>
            </a:avLst>
          </a:prstGeom>
          <a:solidFill>
            <a:srgbClr val="2D3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eview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668" y="1463040"/>
            <a:ext cx="3678183" cy="4846320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5212080" y="164592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2F2F0"/>
                </a:solidFill>
                <a:latin typeface="Calibri"/>
              </a:rPr>
              <a:t>Before applying anything, the operator sees: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240280"/>
            <a:ext cx="64008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600" b="1">
                <a:solidFill>
                  <a:srgbClr val="D9A441"/>
                </a:solidFill>
                <a:latin typeface="Calibri"/>
              </a:rPr>
              <a:t>•  </a:t>
            </a:r>
            <a:r>
              <a:rPr sz="1600">
                <a:solidFill>
                  <a:srgbClr val="F2F2F0"/>
                </a:solidFill>
                <a:latin typeface="Calibri"/>
              </a:rPr>
              <a:t>The exact bundled reference photo for that item</a:t>
            </a:r>
          </a:p>
          <a:p>
            <a:pPr algn="l">
              <a:spcAft>
                <a:spcPts val="1600"/>
              </a:spcAft>
            </a:pPr>
            <a:r>
              <a:rPr sz="1600" b="1">
                <a:solidFill>
                  <a:srgbClr val="D9A441"/>
                </a:solidFill>
                <a:latin typeface="Calibri"/>
              </a:rPr>
              <a:t>•  </a:t>
            </a:r>
            <a:r>
              <a:rPr sz="1600">
                <a:solidFill>
                  <a:srgbClr val="F2F2F0"/>
                </a:solidFill>
                <a:latin typeface="Calibri"/>
              </a:rPr>
              <a:t>Canvas — the precise target pixel dimensions</a:t>
            </a:r>
          </a:p>
          <a:p>
            <a:pPr algn="l">
              <a:spcAft>
                <a:spcPts val="1600"/>
              </a:spcAft>
            </a:pPr>
            <a:r>
              <a:rPr sz="1600" b="1">
                <a:solidFill>
                  <a:srgbClr val="D9A441"/>
                </a:solidFill>
                <a:latin typeface="Calibri"/>
              </a:rPr>
              <a:t>•  </a:t>
            </a:r>
            <a:r>
              <a:rPr sz="1600">
                <a:solidFill>
                  <a:srgbClr val="F2F2F0"/>
                </a:solidFill>
                <a:latin typeface="Calibri"/>
              </a:rPr>
              <a:t>Margins (Top / Bottom / Left / Right)</a:t>
            </a:r>
          </a:p>
          <a:p>
            <a:pPr algn="l">
              <a:spcAft>
                <a:spcPts val="1600"/>
              </a:spcAft>
            </a:pPr>
            <a:r>
              <a:rPr sz="1600" b="1">
                <a:solidFill>
                  <a:srgbClr val="D9A441"/>
                </a:solidFill>
                <a:latin typeface="Calibri"/>
              </a:rPr>
              <a:t>•  </a:t>
            </a:r>
            <a:r>
              <a:rPr sz="1600">
                <a:solidFill>
                  <a:srgbClr val="F2F2F0"/>
                </a:solidFill>
                <a:latin typeface="Calibri"/>
              </a:rPr>
              <a:t>Alignment — how the product sits inside those margins</a:t>
            </a:r>
          </a:p>
          <a:p>
            <a:pPr algn="l">
              <a:spcAft>
                <a:spcPts val="1600"/>
              </a:spcAft>
            </a:pPr>
            <a:r>
              <a:rPr sz="1600" b="1">
                <a:solidFill>
                  <a:srgbClr val="D9A441"/>
                </a:solidFill>
                <a:latin typeface="Calibri"/>
              </a:rPr>
              <a:t>•  </a:t>
            </a:r>
            <a:r>
              <a:rPr sz="1600">
                <a:solidFill>
                  <a:srgbClr val="F2F2F0"/>
                </a:solidFill>
                <a:latin typeface="Calibri"/>
              </a:rPr>
              <a:t>Resolution — the required output ppi</a:t>
            </a:r>
          </a:p>
          <a:p>
            <a:pPr algn="l">
              <a:spcAft>
                <a:spcPts val="1600"/>
              </a:spcAft>
            </a:pPr>
            <a:r>
              <a:rPr sz="1600" b="1">
                <a:solidFill>
                  <a:srgbClr val="D9A441"/>
                </a:solidFill>
                <a:latin typeface="Calibri"/>
              </a:rPr>
              <a:t>•  </a:t>
            </a:r>
            <a:r>
              <a:rPr sz="1600">
                <a:solidFill>
                  <a:srgbClr val="F2F2F0"/>
                </a:solidFill>
                <a:latin typeface="Calibri"/>
              </a:rPr>
              <a:t>Comments — any special instructions for that specific 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598932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AA3AC"/>
                </a:solidFill>
                <a:latin typeface="Calibri"/>
              </a:rPr>
              <a:t>Nobody has to guess, or cross-reference a separate spec sheet.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FULLY AUTOMATIC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2F2F0"/>
                </a:solidFill>
                <a:latin typeface="Calibri"/>
              </a:rPr>
              <a:t>What Happens on Submit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642616" cy="1965960"/>
          </a:xfrm>
          <a:prstGeom prst="roundRect">
            <a:avLst>
              <a:gd name="adj" fmla="val 9000"/>
            </a:avLst>
          </a:prstGeom>
          <a:solidFill>
            <a:srgbClr val="25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783080"/>
            <a:ext cx="502920" cy="50292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8308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41A05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6888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F2F0"/>
                </a:solidFill>
                <a:latin typeface="Calibri"/>
              </a:rPr>
              <a:t>Runs “Layer Stutcure” — builds the retouching structure, cuts out the subject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1256" y="2286000"/>
            <a:ext cx="164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D9A441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600200"/>
            <a:ext cx="2642616" cy="1965960"/>
          </a:xfrm>
          <a:prstGeom prst="roundRect">
            <a:avLst>
              <a:gd name="adj" fmla="val 9000"/>
            </a:avLst>
          </a:prstGeom>
          <a:solidFill>
            <a:srgbClr val="25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57016" y="1783080"/>
            <a:ext cx="502920" cy="50292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6" y="178308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41A05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246888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F2F0"/>
                </a:solidFill>
                <a:latin typeface="Calibri"/>
              </a:rPr>
              <a:t>Scales the product proportionally — never distorted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8464" y="2286000"/>
            <a:ext cx="164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D9A441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642616" cy="1965960"/>
          </a:xfrm>
          <a:prstGeom prst="roundRect">
            <a:avLst>
              <a:gd name="adj" fmla="val 9000"/>
            </a:avLst>
          </a:prstGeom>
          <a:solidFill>
            <a:srgbClr val="25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64224" y="1783080"/>
            <a:ext cx="502920" cy="50292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78308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41A05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46888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F2F0"/>
                </a:solidFill>
                <a:latin typeface="Calibri"/>
              </a:rPr>
              <a:t>Expands canvas to the exact target size &amp; margins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2286000"/>
            <a:ext cx="164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D9A441"/>
                </a:solidFill>
                <a:latin typeface="Calibr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4" y="1600200"/>
            <a:ext cx="2642616" cy="1965960"/>
          </a:xfrm>
          <a:prstGeom prst="roundRect">
            <a:avLst>
              <a:gd name="adj" fmla="val 9000"/>
            </a:avLst>
          </a:prstGeom>
          <a:solidFill>
            <a:srgbClr val="25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71432" y="1783080"/>
            <a:ext cx="502920" cy="50292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78308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41A05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46888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F2F0"/>
                </a:solidFill>
                <a:latin typeface="Calibri"/>
              </a:rPr>
              <a:t>Sets the correct resolution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794760"/>
            <a:ext cx="3578352" cy="1965960"/>
          </a:xfrm>
          <a:prstGeom prst="roundRect">
            <a:avLst>
              <a:gd name="adj" fmla="val 9000"/>
            </a:avLst>
          </a:prstGeom>
          <a:solidFill>
            <a:srgbClr val="25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9808" y="3977640"/>
            <a:ext cx="502920" cy="50292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9776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41A05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663440"/>
            <a:ext cx="31760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F2F0"/>
                </a:solidFill>
                <a:latin typeface="Calibri"/>
              </a:rPr>
              <a:t>Runs “Final_Structure” — finishing pass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26992" y="4480560"/>
            <a:ext cx="164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D9A441"/>
                </a:solidFill>
                <a:latin typeface="Calibr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1584" y="3794760"/>
            <a:ext cx="3578352" cy="1965960"/>
          </a:xfrm>
          <a:prstGeom prst="roundRect">
            <a:avLst>
              <a:gd name="adj" fmla="val 9000"/>
            </a:avLst>
          </a:prstGeom>
          <a:solidFill>
            <a:srgbClr val="25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92752" y="3977640"/>
            <a:ext cx="502920" cy="50292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2752" y="39776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41A05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2752" y="4663440"/>
            <a:ext cx="31760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F2F0"/>
                </a:solidFill>
                <a:latin typeface="Calibri"/>
              </a:rPr>
              <a:t>Organizes &amp; labels every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9936" y="4480560"/>
            <a:ext cx="164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D9A441"/>
                </a:solidFill>
                <a:latin typeface="Calibr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34528" y="3794760"/>
            <a:ext cx="3578352" cy="1965960"/>
          </a:xfrm>
          <a:prstGeom prst="roundRect">
            <a:avLst>
              <a:gd name="adj" fmla="val 9000"/>
            </a:avLst>
          </a:prstGeom>
          <a:solidFill>
            <a:srgbClr val="25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35696" y="3977640"/>
            <a:ext cx="502920" cy="50292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35696" y="39776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41A05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35696" y="4663440"/>
            <a:ext cx="31760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F2F0"/>
                </a:solidFill>
                <a:latin typeface="Calibri"/>
              </a:rPr>
              <a:t>Saves a layered TIFF to “Completed”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A441"/>
                </a:solidFill>
                <a:latin typeface="Calibri"/>
              </a:rPr>
              <a:t>Same seven steps, automatically, for every operator — every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SAFETY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2F2F0"/>
                </a:solidFill>
                <a:latin typeface="Calibri"/>
              </a:rPr>
              <a:t>Originals Are Never Touched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57264" y="1408176"/>
            <a:ext cx="4446991" cy="4773168"/>
          </a:xfrm>
          <a:prstGeom prst="roundRect">
            <a:avLst>
              <a:gd name="adj" fmla="val 4000"/>
            </a:avLst>
          </a:prstGeom>
          <a:solidFill>
            <a:srgbClr val="2D3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nder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128" y="1463040"/>
            <a:ext cx="4337263" cy="4663440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3912128" y="1078992"/>
            <a:ext cx="21686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9AA3AC"/>
                </a:solidFill>
                <a:latin typeface="Calibri"/>
              </a:rPr>
              <a:t>ORIGINALS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078992"/>
            <a:ext cx="21686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D9A441"/>
                </a:solidFill>
                <a:latin typeface="Calibri"/>
              </a:rPr>
              <a:t>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F2F2F0"/>
                </a:solidFill>
                <a:latin typeface="Calibri"/>
              </a:rPr>
              <a:t>The original vendor photo (left) is left completely untouched. A processed TIFF copy with the identical filename is added to a “Completed” subfolder (right). Nothing overwritten, nothing lost.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ACCOUNTABILITY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2F2F0"/>
                </a:solidFill>
                <a:latin typeface="Calibri"/>
              </a:rPr>
              <a:t>Who Processed What — and When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4848" y="1453896"/>
            <a:ext cx="5391184" cy="5001768"/>
          </a:xfrm>
          <a:prstGeom prst="roundRect">
            <a:avLst>
              <a:gd name="adj" fmla="val 4000"/>
            </a:avLst>
          </a:prstGeom>
          <a:solidFill>
            <a:srgbClr val="2D3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yers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12" y="1508760"/>
            <a:ext cx="5281456" cy="4892040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6858000" y="1737360"/>
            <a:ext cx="4800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400" b="1">
                <a:solidFill>
                  <a:srgbClr val="D9A441"/>
                </a:solidFill>
                <a:latin typeface="Calibri"/>
              </a:rPr>
              <a:t>•  </a:t>
            </a:r>
            <a:r>
              <a:rPr sz="1400">
                <a:solidFill>
                  <a:srgbClr val="F2F2F0"/>
                </a:solidFill>
                <a:latin typeface="Calibri"/>
              </a:rPr>
              <a:t>Every operator picks their name from a required dropdown before Submit</a:t>
            </a:r>
          </a:p>
          <a:p>
            <a:pPr algn="l">
              <a:spcAft>
                <a:spcPts val="1300"/>
              </a:spcAft>
            </a:pPr>
            <a:r>
              <a:rPr sz="1400" b="1">
                <a:solidFill>
                  <a:srgbClr val="D9A441"/>
                </a:solidFill>
                <a:latin typeface="Calibri"/>
              </a:rPr>
              <a:t>•  </a:t>
            </a:r>
            <a:r>
              <a:rPr sz="1400">
                <a:solidFill>
                  <a:srgbClr val="F2F2F0"/>
                </a:solidFill>
                <a:latin typeface="Calibri"/>
              </a:rPr>
              <a:t>The last step renames the group to “Name_Date” — e.g. “Ravindar Ramu_0920”</a:t>
            </a:r>
          </a:p>
          <a:p>
            <a:pPr algn="l">
              <a:spcAft>
                <a:spcPts val="1300"/>
              </a:spcAft>
            </a:pPr>
            <a:r>
              <a:rPr sz="1400" b="1">
                <a:solidFill>
                  <a:srgbClr val="D9A441"/>
                </a:solidFill>
                <a:latin typeface="Calibri"/>
              </a:rPr>
              <a:t>•  </a:t>
            </a:r>
            <a:r>
              <a:rPr sz="1400">
                <a:solidFill>
                  <a:srgbClr val="F2F2F0"/>
                </a:solidFill>
                <a:latin typeface="Calibri"/>
              </a:rPr>
              <a:t>Threshold, Color Correction, Image &amp; Shadow/Reflection all nest inside that group</a:t>
            </a:r>
          </a:p>
          <a:p>
            <a:pPr algn="l">
              <a:spcAft>
                <a:spcPts val="1300"/>
              </a:spcAft>
            </a:pPr>
            <a:r>
              <a:rPr sz="1400" b="1">
                <a:solidFill>
                  <a:srgbClr val="D9A441"/>
                </a:solidFill>
                <a:latin typeface="Calibri"/>
              </a:rPr>
              <a:t>•  </a:t>
            </a:r>
            <a:r>
              <a:rPr sz="1400">
                <a:solidFill>
                  <a:srgbClr val="F2F2F0"/>
                </a:solidFill>
                <a:latin typeface="Calibri"/>
              </a:rPr>
              <a:t>The original base layer (“Layer 0”) stays outside, kept separate</a:t>
            </a:r>
          </a:p>
          <a:p>
            <a:pPr algn="l">
              <a:spcAft>
                <a:spcPts val="1300"/>
              </a:spcAft>
            </a:pPr>
            <a:r>
              <a:rPr sz="1400" b="1">
                <a:solidFill>
                  <a:srgbClr val="D9A441"/>
                </a:solidFill>
                <a:latin typeface="Calibri"/>
              </a:rPr>
              <a:t>•  </a:t>
            </a:r>
            <a:r>
              <a:rPr sz="1400">
                <a:solidFill>
                  <a:srgbClr val="F2F2F0"/>
                </a:solidFill>
                <a:latin typeface="Calibri"/>
              </a:rPr>
              <a:t>Anyone can open a finished file and see who processed it, and when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626364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D9A441"/>
                </a:solidFill>
                <a:latin typeface="Calibri"/>
              </a:rPr>
              <a:t>Full traceability across the team — zero extra effort from the operator.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2F2F0"/>
                </a:solidFill>
                <a:latin typeface="Calibri"/>
              </a:rPr>
              <a:t>A Required User Selection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16857" y="1636776"/>
            <a:ext cx="8527806" cy="1298448"/>
          </a:xfrm>
          <a:prstGeom prst="roundRect">
            <a:avLst>
              <a:gd name="adj" fmla="val 4000"/>
            </a:avLst>
          </a:prstGeom>
          <a:solidFill>
            <a:srgbClr val="2D3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er_drop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721" y="1691640"/>
            <a:ext cx="8418078" cy="1188720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2194560" y="3383280"/>
            <a:ext cx="7772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600" b="1">
                <a:solidFill>
                  <a:srgbClr val="D9A441"/>
                </a:solidFill>
                <a:latin typeface="Calibri"/>
              </a:rPr>
              <a:t>•  </a:t>
            </a:r>
            <a:r>
              <a:rPr sz="1600">
                <a:solidFill>
                  <a:srgbClr val="F2F2F0"/>
                </a:solidFill>
                <a:latin typeface="Calibri"/>
              </a:rPr>
              <a:t>Required — the Submit button stays disabled until a name is picked</a:t>
            </a:r>
          </a:p>
          <a:p>
            <a:pPr algn="l">
              <a:spcAft>
                <a:spcPts val="1600"/>
              </a:spcAft>
            </a:pPr>
            <a:r>
              <a:rPr sz="1600" b="1">
                <a:solidFill>
                  <a:srgbClr val="D9A441"/>
                </a:solidFill>
                <a:latin typeface="Calibri"/>
              </a:rPr>
              <a:t>•  </a:t>
            </a:r>
            <a:r>
              <a:rPr sz="1600">
                <a:solidFill>
                  <a:srgbClr val="F2F2F0"/>
                </a:solidFill>
                <a:latin typeface="Calibri"/>
              </a:rPr>
              <a:t>Loaded from a shared list of everyone on the team</a:t>
            </a:r>
          </a:p>
          <a:p>
            <a:pPr algn="l">
              <a:spcAft>
                <a:spcPts val="1600"/>
              </a:spcAft>
            </a:pPr>
            <a:r>
              <a:rPr sz="1600" b="1">
                <a:solidFill>
                  <a:srgbClr val="D9A441"/>
                </a:solidFill>
                <a:latin typeface="Calibri"/>
              </a:rPr>
              <a:t>•  </a:t>
            </a:r>
            <a:r>
              <a:rPr sz="1600">
                <a:solidFill>
                  <a:srgbClr val="F2F2F0"/>
                </a:solidFill>
                <a:latin typeface="Calibri"/>
              </a:rPr>
              <a:t>Remembers the last name used on that machine, so it's pre-selected next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AA3AC"/>
                </a:solidFill>
                <a:latin typeface="Calibri"/>
              </a:rPr>
              <a:t>Developed by Ravindar Ramu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WORK FASTER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2F2F0"/>
                </a:solidFill>
                <a:latin typeface="Calibri"/>
              </a:rPr>
              <a:t>Batch Mode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25296" y="1636776"/>
            <a:ext cx="9710928" cy="1238028"/>
          </a:xfrm>
          <a:prstGeom prst="roundRect">
            <a:avLst>
              <a:gd name="adj" fmla="val 4000"/>
            </a:avLst>
          </a:prstGeom>
          <a:solidFill>
            <a:srgbClr val="2D3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91640"/>
            <a:ext cx="9601200" cy="1128300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2194560" y="3520440"/>
            <a:ext cx="7772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600" b="1">
                <a:solidFill>
                  <a:srgbClr val="D9A441"/>
                </a:solidFill>
                <a:latin typeface="Calibri"/>
              </a:rPr>
              <a:t>•  </a:t>
            </a:r>
            <a:r>
              <a:rPr sz="1600">
                <a:solidFill>
                  <a:srgbClr val="F2F2F0"/>
                </a:solidFill>
                <a:latin typeface="Calibri"/>
              </a:rPr>
              <a:t>“Apply this action to all open images” processes every open image at once, with a single Submit</a:t>
            </a:r>
          </a:p>
          <a:p>
            <a:pPr algn="l">
              <a:spcAft>
                <a:spcPts val="1600"/>
              </a:spcAft>
            </a:pPr>
            <a:r>
              <a:rPr sz="1600" b="1">
                <a:solidFill>
                  <a:srgbClr val="D9A441"/>
                </a:solidFill>
                <a:latin typeface="Calibri"/>
              </a:rPr>
              <a:t>•  </a:t>
            </a:r>
            <a:r>
              <a:rPr sz="1600">
                <a:solidFill>
                  <a:srgbClr val="F2F2F0"/>
                </a:solidFill>
                <a:latin typeface="Calibri"/>
              </a:rPr>
              <a:t>No more repeating the same steps one image at a time</a:t>
            </a:r>
          </a:p>
          <a:p>
            <a:pPr algn="l">
              <a:spcAft>
                <a:spcPts val="1600"/>
              </a:spcAft>
            </a:pPr>
            <a:r>
              <a:rPr sz="1600" b="1">
                <a:solidFill>
                  <a:srgbClr val="D9A441"/>
                </a:solidFill>
                <a:latin typeface="Calibri"/>
              </a:rPr>
              <a:t>•  </a:t>
            </a:r>
            <a:r>
              <a:rPr sz="1600">
                <a:solidFill>
                  <a:srgbClr val="F2F2F0"/>
                </a:solidFill>
                <a:latin typeface="Calibri"/>
              </a:rPr>
              <a:t>Close / Cancel are always available to back out safely, before or after a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AA3AC"/>
                </a:solidFill>
                <a:latin typeface="Calibri"/>
              </a:rPr>
              <a:t>Developed by Ravindar Ramu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A441"/>
                </a:solidFill>
                <a:latin typeface="Calibri"/>
              </a:rPr>
              <a:t>THE PAYOFF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2F2F0"/>
                </a:solidFill>
                <a:latin typeface="Calibri"/>
              </a:rPr>
              <a:t>Why This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611880" cy="4480560"/>
          </a:xfrm>
          <a:prstGeom prst="roundRect">
            <a:avLst>
              <a:gd name="adj" fmla="val 6000"/>
            </a:avLst>
          </a:prstGeom>
          <a:solidFill>
            <a:srgbClr val="25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64008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241A05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75688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2F2F0"/>
                </a:solidFill>
                <a:latin typeface="Calibri"/>
              </a:rPr>
              <a:t>No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30632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D9A441"/>
                </a:solidFill>
                <a:latin typeface="Calibri"/>
              </a:rPr>
              <a:t>•  </a:t>
            </a:r>
            <a:r>
              <a:rPr sz="1300">
                <a:solidFill>
                  <a:srgbClr val="F2F2F0"/>
                </a:solidFill>
                <a:latin typeface="Calibri"/>
              </a:rPr>
              <a:t>Margins &amp; scale calculated automatically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D9A441"/>
                </a:solidFill>
                <a:latin typeface="Calibri"/>
              </a:rPr>
              <a:t>•  </a:t>
            </a:r>
            <a:r>
              <a:rPr sz="1300">
                <a:solidFill>
                  <a:srgbClr val="F2F2F0"/>
                </a:solidFill>
                <a:latin typeface="Calibri"/>
              </a:rPr>
              <a:t>Product is never distorted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D9A441"/>
                </a:solidFill>
                <a:latin typeface="Calibri"/>
              </a:rPr>
              <a:t>•  </a:t>
            </a:r>
            <a:r>
              <a:rPr sz="1300">
                <a:solidFill>
                  <a:srgbClr val="F2F2F0"/>
                </a:solidFill>
                <a:latin typeface="Calibri"/>
              </a:rPr>
              <a:t>Originals are never lost or overwritten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D9A441"/>
                </a:solidFill>
                <a:latin typeface="Calibri"/>
              </a:rPr>
              <a:t>•  </a:t>
            </a:r>
            <a:r>
              <a:rPr sz="1300">
                <a:solidFill>
                  <a:srgbClr val="F2F2F0"/>
                </a:solidFill>
                <a:latin typeface="Calibri"/>
              </a:rPr>
              <a:t>Retouching structure never skipped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611880" cy="4480560"/>
          </a:xfrm>
          <a:prstGeom prst="roundRect">
            <a:avLst>
              <a:gd name="adj" fmla="val 6000"/>
            </a:avLst>
          </a:prstGeom>
          <a:solidFill>
            <a:srgbClr val="25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720" y="1965960"/>
            <a:ext cx="640080" cy="64008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64008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241A05"/>
                </a:solidFill>
                <a:latin typeface="Calibri"/>
              </a:rPr>
              <a:t>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075688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2F2F0"/>
                </a:solidFill>
                <a:latin typeface="Calibri"/>
              </a:rPr>
              <a:t>Time Saved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34640"/>
            <a:ext cx="30632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D9A441"/>
                </a:solidFill>
                <a:latin typeface="Calibri"/>
              </a:rPr>
              <a:t>•  </a:t>
            </a:r>
            <a:r>
              <a:rPr sz="1300">
                <a:solidFill>
                  <a:srgbClr val="F2F2F0"/>
                </a:solidFill>
                <a:latin typeface="Calibri"/>
              </a:rPr>
              <a:t>A multi-step manual process is now one click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D9A441"/>
                </a:solidFill>
                <a:latin typeface="Calibri"/>
              </a:rPr>
              <a:t>•  </a:t>
            </a:r>
            <a:r>
              <a:rPr sz="1300">
                <a:solidFill>
                  <a:srgbClr val="F2F2F0"/>
                </a:solidFill>
                <a:latin typeface="Calibri"/>
              </a:rPr>
              <a:t>Batch mode processes a whole folder at once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D9A441"/>
                </a:solidFill>
                <a:latin typeface="Calibri"/>
              </a:rPr>
              <a:t>•  </a:t>
            </a:r>
            <a:r>
              <a:rPr sz="1300">
                <a:solidFill>
                  <a:srgbClr val="F2F2F0"/>
                </a:solidFill>
                <a:latin typeface="Calibri"/>
              </a:rPr>
              <a:t>New team members are productive immediately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91640"/>
            <a:ext cx="3611880" cy="4480560"/>
          </a:xfrm>
          <a:prstGeom prst="roundRect">
            <a:avLst>
              <a:gd name="adj" fmla="val 6000"/>
            </a:avLst>
          </a:prstGeom>
          <a:solidFill>
            <a:srgbClr val="25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1965960"/>
            <a:ext cx="640080" cy="64008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965960"/>
            <a:ext cx="64008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241A05"/>
                </a:solidFill>
                <a:latin typeface="Calibri"/>
              </a:rPr>
              <a:t>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075688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2F2F0"/>
                </a:solidFill>
                <a:latin typeface="Calibri"/>
              </a:rPr>
              <a:t>Consistent &amp; Traceable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834640"/>
            <a:ext cx="30632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D9A441"/>
                </a:solidFill>
                <a:latin typeface="Calibri"/>
              </a:rPr>
              <a:t>•  </a:t>
            </a:r>
            <a:r>
              <a:rPr sz="1300">
                <a:solidFill>
                  <a:srgbClr val="F2F2F0"/>
                </a:solidFill>
                <a:latin typeface="Calibri"/>
              </a:rPr>
              <a:t>Every operator produces identically-structured output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D9A441"/>
                </a:solidFill>
                <a:latin typeface="Calibri"/>
              </a:rPr>
              <a:t>•  </a:t>
            </a:r>
            <a:r>
              <a:rPr sz="1300">
                <a:solidFill>
                  <a:srgbClr val="F2F2F0"/>
                </a:solidFill>
                <a:latin typeface="Calibri"/>
              </a:rPr>
              <a:t>Every file is automatically attributed to a name and date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D9A441"/>
                </a:solidFill>
                <a:latin typeface="Calibri"/>
              </a:rPr>
              <a:t>•  </a:t>
            </a:r>
            <a:r>
              <a:rPr sz="1300">
                <a:solidFill>
                  <a:srgbClr val="F2F2F0"/>
                </a:solidFill>
                <a:latin typeface="Calibri"/>
              </a:rPr>
              <a:t>One shared spec sheet for the whole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AA3AC"/>
                </a:solidFill>
                <a:latin typeface="Calibri"/>
              </a:rPr>
              <a:t>Developed by Ravindar Ramu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206240"/>
            <a:ext cx="4754880" cy="4754880"/>
          </a:xfrm>
          <a:prstGeom prst="ellipse">
            <a:avLst/>
          </a:prstGeom>
          <a:solidFill>
            <a:srgbClr val="25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3291840" cy="3291840"/>
          </a:xfrm>
          <a:prstGeom prst="ellipse">
            <a:avLst/>
          </a:prstGeom>
          <a:solidFill>
            <a:srgbClr val="2D3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67528" y="1828800"/>
            <a:ext cx="1463040" cy="1463040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67528" y="1828800"/>
            <a:ext cx="1463040" cy="146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0" b="1">
                <a:solidFill>
                  <a:srgbClr val="241A05"/>
                </a:solidFill>
                <a:latin typeface="Calibri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2F2F0"/>
                </a:solidFill>
                <a:latin typeface="Calibri"/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D9A441"/>
                </a:solidFill>
                <a:latin typeface="Calibri"/>
              </a:rPr>
              <a:t>This tool is actively maintained — feedback and edge cases are always welcome.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9AA3AC"/>
                </a:solidFill>
                <a:latin typeface="Calibri"/>
              </a:rPr>
              <a:t>Developed by Ravindar Ramu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